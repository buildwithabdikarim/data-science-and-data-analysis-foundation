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1"/>
  </p:notesMasterIdLst>
  <p:sldIdLst>
    <p:sldId id="281" r:id="rId2"/>
    <p:sldId id="267" r:id="rId3"/>
    <p:sldId id="268" r:id="rId4"/>
    <p:sldId id="269" r:id="rId5"/>
    <p:sldId id="270" r:id="rId6"/>
    <p:sldId id="271" r:id="rId7"/>
    <p:sldId id="277" r:id="rId8"/>
    <p:sldId id="276" r:id="rId9"/>
    <p:sldId id="27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F6C9E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3A2-46BD-9677-AF308DF55E7F}"/>
              </c:ext>
            </c:extLst>
          </c:dPt>
          <c:dPt>
            <c:idx val="1"/>
            <c:invertIfNegative val="0"/>
            <c:bubble3D val="0"/>
            <c:spPr>
              <a:solidFill>
                <a:srgbClr val="D7AAC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3A2-46BD-9677-AF308DF55E7F}"/>
              </c:ext>
            </c:extLst>
          </c:dPt>
          <c:dPt>
            <c:idx val="2"/>
            <c:invertIfNegative val="0"/>
            <c:bubble3D val="0"/>
            <c:spPr>
              <a:solidFill>
                <a:srgbClr val="B88B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3A2-46BD-9677-AF308DF55E7F}"/>
              </c:ext>
            </c:extLst>
          </c:dPt>
          <c:dPt>
            <c:idx val="3"/>
            <c:invertIfNegative val="0"/>
            <c:bubble3D val="0"/>
            <c:spPr>
              <a:solidFill>
                <a:srgbClr val="996D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3A2-46BD-9677-AF308DF55E7F}"/>
              </c:ext>
            </c:extLst>
          </c:dPt>
          <c:dPt>
            <c:idx val="4"/>
            <c:invertIfNegative val="0"/>
            <c:bubble3D val="0"/>
            <c:spPr>
              <a:solidFill>
                <a:srgbClr val="794E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3A2-46BD-9677-AF308DF55E7F}"/>
              </c:ext>
            </c:extLst>
          </c:dPt>
          <c:dPt>
            <c:idx val="5"/>
            <c:invertIfNegative val="0"/>
            <c:bubble3D val="0"/>
            <c:spPr>
              <a:solidFill>
                <a:srgbClr val="5A2F4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3A2-46BD-9677-AF308DF55E7F}"/>
              </c:ext>
            </c:extLst>
          </c:dPt>
          <c:dPt>
            <c:idx val="6"/>
            <c:invertIfNegative val="0"/>
            <c:bubble3D val="0"/>
            <c:spPr>
              <a:solidFill>
                <a:srgbClr val="3B103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63A2-46BD-9677-AF308DF55E7F}"/>
              </c:ext>
            </c:extLst>
          </c:dPt>
          <c:dLbls>
            <c:numFmt formatCode="&quot;$&quot;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3B10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Garowe</c:v>
                </c:pt>
                <c:pt idx="1">
                  <c:v>Kismayo</c:v>
                </c:pt>
                <c:pt idx="2">
                  <c:v>Baidoa</c:v>
                </c:pt>
                <c:pt idx="3">
                  <c:v>Other</c:v>
                </c:pt>
                <c:pt idx="4">
                  <c:v>Bosaso</c:v>
                </c:pt>
                <c:pt idx="5">
                  <c:v>Hargeisa</c:v>
                </c:pt>
                <c:pt idx="6">
                  <c:v>Mogadishu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1012.78</c:v>
                </c:pt>
                <c:pt idx="1">
                  <c:v>2160.2199999999998</c:v>
                </c:pt>
                <c:pt idx="2">
                  <c:v>2259.81</c:v>
                </c:pt>
                <c:pt idx="3">
                  <c:v>3157.38</c:v>
                </c:pt>
                <c:pt idx="4">
                  <c:v>3620.11</c:v>
                </c:pt>
                <c:pt idx="5">
                  <c:v>3657.37</c:v>
                </c:pt>
                <c:pt idx="6">
                  <c:v>9405.35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63A2-46BD-9677-AF308DF55E7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E4F5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5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B103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BFD-4A9E-BE5E-37F4E16AECC0}"/>
              </c:ext>
            </c:extLst>
          </c:dPt>
          <c:dPt>
            <c:idx val="1"/>
            <c:bubble3D val="0"/>
            <c:spPr>
              <a:solidFill>
                <a:srgbClr val="60355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BFD-4A9E-BE5E-37F4E16AECC0}"/>
              </c:ext>
            </c:extLst>
          </c:dPt>
          <c:dPt>
            <c:idx val="2"/>
            <c:bubble3D val="0"/>
            <c:spPr>
              <a:solidFill>
                <a:srgbClr val="865A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BFD-4A9E-BE5E-37F4E16AECC0}"/>
              </c:ext>
            </c:extLst>
          </c:dPt>
          <c:dPt>
            <c:idx val="3"/>
            <c:bubble3D val="0"/>
            <c:spPr>
              <a:solidFill>
                <a:srgbClr val="AB7F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BFD-4A9E-BE5E-37F4E16AECC0}"/>
              </c:ext>
            </c:extLst>
          </c:dPt>
          <c:dPt>
            <c:idx val="4"/>
            <c:bubble3D val="0"/>
            <c:spPr>
              <a:solidFill>
                <a:srgbClr val="D1A4B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BFD-4A9E-BE5E-37F4E16AECC0}"/>
              </c:ext>
            </c:extLst>
          </c:dPt>
          <c:dPt>
            <c:idx val="5"/>
            <c:bubble3D val="0"/>
            <c:spPr>
              <a:solidFill>
                <a:srgbClr val="F6C9E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0BFD-4A9E-BE5E-37F4E16AECC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BFD-4A9E-BE5E-37F4E16AECC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BFD-4A9E-BE5E-37F4E16AECC0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BFD-4A9E-BE5E-37F4E16AECC0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BFD-4A9E-BE5E-37F4E16AECC0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0BFD-4A9E-BE5E-37F4E16AECC0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0BFD-4A9E-BE5E-37F4E16AECC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Electronics</c:v>
                </c:pt>
                <c:pt idx="1">
                  <c:v>Home &amp; Living</c:v>
                </c:pt>
                <c:pt idx="2">
                  <c:v>Clothing</c:v>
                </c:pt>
                <c:pt idx="3">
                  <c:v>Groceries</c:v>
                </c:pt>
                <c:pt idx="4">
                  <c:v>Other</c:v>
                </c:pt>
                <c:pt idx="5">
                  <c:v>Stationery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16457.43</c:v>
                </c:pt>
                <c:pt idx="1">
                  <c:v>3361.23</c:v>
                </c:pt>
                <c:pt idx="2">
                  <c:v>2742.41</c:v>
                </c:pt>
                <c:pt idx="3">
                  <c:v>1412.37</c:v>
                </c:pt>
                <c:pt idx="4">
                  <c:v>1048.69</c:v>
                </c:pt>
                <c:pt idx="5">
                  <c:v>250.89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0BFD-4A9E-BE5E-37F4E16AEC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E4F5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E0218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F7C-4623-B41D-08FF56BB8D25}"/>
              </c:ext>
            </c:extLst>
          </c:dPt>
          <c:dPt>
            <c:idx val="1"/>
            <c:invertIfNegative val="0"/>
            <c:bubble3D val="0"/>
            <c:spPr>
              <a:solidFill>
                <a:srgbClr val="3B103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F7C-4623-B41D-08FF56BB8D25}"/>
              </c:ext>
            </c:extLst>
          </c:dPt>
          <c:dLbls>
            <c:numFmt formatCode="&quot;$&quot;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3B10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New</c:v>
                </c:pt>
                <c:pt idx="1">
                  <c:v>Returning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9548.0400000000009</c:v>
                </c:pt>
                <c:pt idx="1">
                  <c:v>15724.98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F7C-4623-B41D-08FF56BB8D2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E4F5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3B103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BE2-4F7E-B3B3-4C8FB1F23437}"/>
              </c:ext>
            </c:extLst>
          </c:dPt>
          <c:dPt>
            <c:idx val="1"/>
            <c:invertIfNegative val="0"/>
            <c:bubble3D val="0"/>
            <c:spPr>
              <a:solidFill>
                <a:srgbClr val="F6C9E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BE2-4F7E-B3B3-4C8FB1F23437}"/>
              </c:ext>
            </c:extLst>
          </c:dPt>
          <c:dPt>
            <c:idx val="2"/>
            <c:invertIfNegative val="0"/>
            <c:bubble3D val="0"/>
            <c:spPr>
              <a:solidFill>
                <a:srgbClr val="C295A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BE2-4F7E-B3B3-4C8FB1F23437}"/>
              </c:ext>
            </c:extLst>
          </c:dPt>
          <c:dLbls>
            <c:numFmt formatCode="&quot;$&quot;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3B10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2025</c:v>
                </c:pt>
                <c:pt idx="1">
                  <c:v>2026</c:v>
                </c:pt>
                <c:pt idx="2">
                  <c:v>No Date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17428.18</c:v>
                </c:pt>
                <c:pt idx="1">
                  <c:v>6005.01</c:v>
                </c:pt>
                <c:pt idx="2">
                  <c:v>1839.83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BE2-4F7E-B3B3-4C8FB1F234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4F5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3B1030">
                <a:alpha val="25000"/>
              </a:srgbClr>
            </a:solidFill>
            <a:effectLst/>
          </c:spP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1366.11</c:v>
                </c:pt>
                <c:pt idx="1">
                  <c:v>1515.11</c:v>
                </c:pt>
                <c:pt idx="2">
                  <c:v>2466.75</c:v>
                </c:pt>
                <c:pt idx="3">
                  <c:v>2543.7600000000002</c:v>
                </c:pt>
                <c:pt idx="4">
                  <c:v>3112.06</c:v>
                </c:pt>
                <c:pt idx="5">
                  <c:v>4601.28</c:v>
                </c:pt>
                <c:pt idx="6">
                  <c:v>1452.44</c:v>
                </c:pt>
                <c:pt idx="7">
                  <c:v>1369.45</c:v>
                </c:pt>
                <c:pt idx="8">
                  <c:v>1285.3900000000001</c:v>
                </c:pt>
                <c:pt idx="9">
                  <c:v>1597.18</c:v>
                </c:pt>
                <c:pt idx="10">
                  <c:v>804.01</c:v>
                </c:pt>
                <c:pt idx="11">
                  <c:v>3159.48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772-4D1C-8888-4DE5803CFB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4F5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F8DCEA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4F5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8591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3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rotWithShape="1">
          <a:gsLst>
            <a:gs pos="0">
              <a:srgbClr val="3B1030"/>
            </a:gs>
            <a:gs pos="100000">
              <a:srgbClr val="240A1D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81E6FA0-CF0E-73FD-B00D-96E422F5DA66}"/>
              </a:ext>
            </a:extLst>
          </p:cNvPr>
          <p:cNvPicPr>
            <a:picLocks/>
          </p:cNvPicPr>
          <p:nvPr/>
        </p:nvPicPr>
        <p:blipFill>
          <a:blip r:embed="rId3"/>
          <a:srcRect l="32000" t="3000" r="32000" b="17000"/>
          <a:stretch>
            <a:fillRect/>
          </a:stretch>
        </p:blipFill>
        <p:spPr>
          <a:xfrm>
            <a:off x="7620000" y="0"/>
            <a:ext cx="4318000" cy="6858000"/>
          </a:xfrm>
          <a:prstGeom prst="rect">
            <a:avLst/>
          </a:prstGeom>
        </p:spPr>
      </p:pic>
      <p:sp>
        <p:nvSpPr>
          <p:cNvPr id="20" name="Grid"/>
          <p:cNvSpPr/>
          <p:nvPr/>
        </p:nvSpPr>
        <p:spPr>
          <a:xfrm>
            <a:off x="190500" y="0"/>
            <a:ext cx="9525" cy="6858000"/>
          </a:xfrm>
          <a:prstGeom prst="rect">
            <a:avLst/>
          </a:prstGeom>
          <a:solidFill>
            <a:srgbClr val="F6C9E0">
              <a:alpha val="18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Grid"/>
          <p:cNvSpPr/>
          <p:nvPr/>
        </p:nvSpPr>
        <p:spPr>
          <a:xfrm>
            <a:off x="635000" y="0"/>
            <a:ext cx="9525" cy="6858000"/>
          </a:xfrm>
          <a:prstGeom prst="rect">
            <a:avLst/>
          </a:prstGeom>
          <a:solidFill>
            <a:srgbClr val="F6C9E0">
              <a:alpha val="18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Grid"/>
          <p:cNvSpPr/>
          <p:nvPr/>
        </p:nvSpPr>
        <p:spPr>
          <a:xfrm>
            <a:off x="1079500" y="0"/>
            <a:ext cx="9525" cy="6858000"/>
          </a:xfrm>
          <a:prstGeom prst="rect">
            <a:avLst/>
          </a:prstGeom>
          <a:solidFill>
            <a:srgbClr val="F6C9E0">
              <a:alpha val="18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Grid"/>
          <p:cNvSpPr/>
          <p:nvPr/>
        </p:nvSpPr>
        <p:spPr>
          <a:xfrm>
            <a:off x="1524000" y="0"/>
            <a:ext cx="9525" cy="6858000"/>
          </a:xfrm>
          <a:prstGeom prst="rect">
            <a:avLst/>
          </a:prstGeom>
          <a:solidFill>
            <a:srgbClr val="F6C9E0">
              <a:alpha val="18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Grid"/>
          <p:cNvSpPr/>
          <p:nvPr/>
        </p:nvSpPr>
        <p:spPr>
          <a:xfrm>
            <a:off x="1968500" y="0"/>
            <a:ext cx="9525" cy="6858000"/>
          </a:xfrm>
          <a:prstGeom prst="rect">
            <a:avLst/>
          </a:prstGeom>
          <a:solidFill>
            <a:srgbClr val="F6C9E0">
              <a:alpha val="18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Grid"/>
          <p:cNvSpPr/>
          <p:nvPr/>
        </p:nvSpPr>
        <p:spPr>
          <a:xfrm>
            <a:off x="2413000" y="0"/>
            <a:ext cx="9525" cy="6858000"/>
          </a:xfrm>
          <a:prstGeom prst="rect">
            <a:avLst/>
          </a:prstGeom>
          <a:solidFill>
            <a:srgbClr val="F6C9E0">
              <a:alpha val="18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GridH"/>
          <p:cNvSpPr/>
          <p:nvPr/>
        </p:nvSpPr>
        <p:spPr>
          <a:xfrm>
            <a:off x="0" y="1270000"/>
            <a:ext cx="2667000" cy="9525"/>
          </a:xfrm>
          <a:prstGeom prst="rect">
            <a:avLst/>
          </a:prstGeom>
          <a:solidFill>
            <a:srgbClr val="F6C9E0">
              <a:alpha val="1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GridH"/>
          <p:cNvSpPr/>
          <p:nvPr/>
        </p:nvSpPr>
        <p:spPr>
          <a:xfrm>
            <a:off x="0" y="3429000"/>
            <a:ext cx="2667000" cy="9525"/>
          </a:xfrm>
          <a:prstGeom prst="rect">
            <a:avLst/>
          </a:prstGeom>
          <a:solidFill>
            <a:srgbClr val="F6C9E0">
              <a:alpha val="1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GridH"/>
          <p:cNvSpPr/>
          <p:nvPr/>
        </p:nvSpPr>
        <p:spPr>
          <a:xfrm>
            <a:off x="0" y="5588000"/>
            <a:ext cx="2667000" cy="9525"/>
          </a:xfrm>
          <a:prstGeom prst="rect">
            <a:avLst/>
          </a:prstGeom>
          <a:solidFill>
            <a:srgbClr val="F6C9E0">
              <a:alpha val="1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WordExcel"/>
          <p:cNvSpPr/>
          <p:nvPr/>
        </p:nvSpPr>
        <p:spPr>
          <a:xfrm rot="16200000">
            <a:off x="-1651000" y="2095500"/>
            <a:ext cx="5842000" cy="16510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E0218A"/>
                </a:solidFill>
                <a:latin typeface="Cambria" pitchFamily="34" charset="0"/>
              </a:rPr>
              <a:t>EXCEL</a:t>
            </a:r>
          </a:p>
        </p:txBody>
      </p:sp>
      <p:sp>
        <p:nvSpPr>
          <p:cNvPr id="31" name="WordProject"/>
          <p:cNvSpPr/>
          <p:nvPr/>
        </p:nvSpPr>
        <p:spPr>
          <a:xfrm rot="16200000">
            <a:off x="-825500" y="2984500"/>
            <a:ext cx="5842000" cy="13970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en-US" sz="7000" b="1" dirty="0">
                <a:ln w="19050">
                  <a:solidFill>
                    <a:srgbClr val="E0218A"/>
                  </a:solidFill>
                </a:ln>
                <a:noFill/>
                <a:latin typeface="Cambria" pitchFamily="34" charset="0"/>
              </a:rPr>
              <a:t>PROJECT</a:t>
            </a:r>
          </a:p>
        </p:txBody>
      </p:sp>
      <p:sp>
        <p:nvSpPr>
          <p:cNvPr id="40" name="Cross1"/>
          <p:cNvSpPr/>
          <p:nvPr/>
        </p:nvSpPr>
        <p:spPr>
          <a:xfrm>
            <a:off x="3175000" y="762000"/>
            <a:ext cx="177800" cy="177800"/>
          </a:xfrm>
          <a:prstGeom prst="plus">
            <a:avLst/>
          </a:prstGeom>
          <a:solidFill>
            <a:srgbClr val="F6C9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Cross2"/>
          <p:cNvSpPr/>
          <p:nvPr/>
        </p:nvSpPr>
        <p:spPr>
          <a:xfrm>
            <a:off x="3810000" y="1143000"/>
            <a:ext cx="127000" cy="127000"/>
          </a:xfrm>
          <a:prstGeom prst="plus">
            <a:avLst/>
          </a:prstGeom>
          <a:solidFill>
            <a:srgbClr val="E0218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Cross3"/>
          <p:cNvSpPr/>
          <p:nvPr/>
        </p:nvSpPr>
        <p:spPr>
          <a:xfrm>
            <a:off x="4292600" y="609600"/>
            <a:ext cx="101600" cy="101600"/>
          </a:xfrm>
          <a:prstGeom prst="plus">
            <a:avLst/>
          </a:prstGeom>
          <a:solidFill>
            <a:srgbClr val="F6C9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3" name="Dot"/>
          <p:cNvSpPr/>
          <p:nvPr/>
        </p:nvSpPr>
        <p:spPr>
          <a:xfrm>
            <a:off x="3683000" y="1651000"/>
            <a:ext cx="127000" cy="127000"/>
          </a:xfrm>
          <a:prstGeom prst="ellipse">
            <a:avLst/>
          </a:prstGeom>
          <a:solidFill>
            <a:srgbClr val="E0218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" name="Eyebrow"/>
          <p:cNvSpPr/>
          <p:nvPr/>
        </p:nvSpPr>
        <p:spPr>
          <a:xfrm>
            <a:off x="2857500" y="1422400"/>
            <a:ext cx="4191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E0218A"/>
                </a:solidFill>
                <a:latin typeface="Calibri" pitchFamily="34" charset="0"/>
              </a:rPr>
              <a:t>EXCEL INDIVIDUAL PROJECT</a:t>
            </a:r>
          </a:p>
        </p:txBody>
      </p:sp>
      <p:sp>
        <p:nvSpPr>
          <p:cNvPr id="51" name="Headline"/>
          <p:cNvSpPr/>
          <p:nvPr/>
        </p:nvSpPr>
        <p:spPr>
          <a:xfrm>
            <a:off x="2857500" y="1905000"/>
            <a:ext cx="42545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</a:rPr>
              <a:t>FROM RAW DATA</a:t>
            </a:r>
          </a:p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</a:rPr>
              <a:t>TO EXECUTIVE</a:t>
            </a:r>
          </a:p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E0218A"/>
                </a:solidFill>
                <a:latin typeface="Cambria" pitchFamily="34" charset="0"/>
              </a:rPr>
              <a:t>INSIGHT</a:t>
            </a:r>
          </a:p>
        </p:txBody>
      </p:sp>
      <p:sp>
        <p:nvSpPr>
          <p:cNvPr id="52" name="Subtitle"/>
          <p:cNvSpPr/>
          <p:nvPr/>
        </p:nvSpPr>
        <p:spPr>
          <a:xfrm>
            <a:off x="2857500" y="4381500"/>
            <a:ext cx="4254500" cy="1206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F6C9E0"/>
                </a:solidFill>
                <a:latin typeface="Calibri" pitchFamily="34" charset="0"/>
              </a:rPr>
              <a:t>Cleaning and analyzing 300 retail sales transactions to build a clean dataset and an executive sales dashboard.</a:t>
            </a:r>
          </a:p>
        </p:txBody>
      </p:sp>
      <p:sp>
        <p:nvSpPr>
          <p:cNvPr id="53" name="Divider"/>
          <p:cNvSpPr/>
          <p:nvPr/>
        </p:nvSpPr>
        <p:spPr>
          <a:xfrm>
            <a:off x="2857500" y="5740400"/>
            <a:ext cx="1397000" cy="25400"/>
          </a:xfrm>
          <a:prstGeom prst="rect">
            <a:avLst/>
          </a:prstGeom>
          <a:solidFill>
            <a:srgbClr val="F6C9E0">
              <a:alpha val="6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4" name="Footer"/>
          <p:cNvSpPr/>
          <p:nvPr/>
        </p:nvSpPr>
        <p:spPr>
          <a:xfrm>
            <a:off x="2857500" y="5918200"/>
            <a:ext cx="4254500" cy="863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Abdikarim Ismail Ali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ADCEC"/>
                </a:solidFill>
                <a:latin typeface="Calibri" pitchFamily="34" charset="0"/>
              </a:rPr>
              <a:t>Software &amp; AI Engineer  ·  August 2026</a:t>
            </a:r>
          </a:p>
        </p:txBody>
      </p:sp>
      <p:sp>
        <p:nvSpPr>
          <p:cNvPr id="60" name="GlowRing"/>
          <p:cNvSpPr/>
          <p:nvPr/>
        </p:nvSpPr>
        <p:spPr>
          <a:xfrm>
            <a:off x="6604000" y="1524000"/>
            <a:ext cx="6604000" cy="6604000"/>
          </a:xfrm>
          <a:prstGeom prst="ellipse">
            <a:avLst/>
          </a:prstGeom>
          <a:noFill/>
          <a:ln w="34925">
            <a:solidFill>
              <a:srgbClr val="F6C9E0">
                <a:alpha val="50000"/>
              </a:srgbClr>
            </a:solidFill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51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49808"/>
            <a:ext cx="1645920" cy="1645920"/>
          </a:xfrm>
          <a:prstGeom prst="ellipse">
            <a:avLst/>
          </a:prstGeom>
          <a:solidFill>
            <a:srgbClr val="E0218A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project/icons/head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0080"/>
            <a:ext cx="164592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14600" y="67665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2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PRESENTER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2514600" y="93268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Abdikarim Ismail Ali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2514600" y="142646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3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Software Engineer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2514600" y="1737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Web, Mobile &amp; Backend Systems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200400"/>
            <a:ext cx="292608" cy="292608"/>
          </a:xfrm>
          <a:prstGeom prst="ellipse">
            <a:avLst/>
          </a:prstGeom>
          <a:solidFill>
            <a:srgbClr val="FDF0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/home/claude/project/icons/mail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866" y="3270626"/>
            <a:ext cx="152156" cy="1521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32688" y="320040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cabdikariim405@gmail.com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617720" y="3200400"/>
            <a:ext cx="292608" cy="292608"/>
          </a:xfrm>
          <a:prstGeom prst="ellipse">
            <a:avLst/>
          </a:prstGeom>
          <a:solidFill>
            <a:srgbClr val="FDF0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/home/claude/project/icons/github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7946" y="3270626"/>
            <a:ext cx="152156" cy="1521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001768" y="320040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github.com/Abdikarim-dev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686800" y="3200400"/>
            <a:ext cx="292608" cy="292608"/>
          </a:xfrm>
          <a:prstGeom prst="ellipse">
            <a:avLst/>
          </a:prstGeom>
          <a:solidFill>
            <a:srgbClr val="FDF0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/home/claude/project/icons/mappin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7026" y="3270626"/>
            <a:ext cx="152156" cy="1521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070848" y="320040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Mogadishu, Somalia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548640" y="39136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3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SKILLS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548640" y="4279392"/>
            <a:ext cx="2072579" cy="1691640"/>
          </a:xfrm>
          <a:prstGeom prst="roundRect">
            <a:avLst>
              <a:gd name="adj" fmla="val 4324"/>
            </a:avLst>
          </a:prstGeom>
          <a:solidFill>
            <a:srgbClr val="FDF0F6"/>
          </a:solidFill>
          <a:ln w="12700">
            <a:solidFill>
              <a:srgbClr val="F8DCEA"/>
            </a:solidFill>
            <a:prstDash val="solid"/>
          </a:ln>
          <a:effectLst>
            <a:outerShdw blurRad="76200" dist="25400" dir="5400000" algn="bl" rotWithShape="0">
              <a:srgbClr val="3B103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731520" y="4462272"/>
            <a:ext cx="170681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2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731520" y="4846320"/>
            <a:ext cx="1706819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3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250" dirty="0"/>
          </a:p>
          <a:p>
            <a:pPr marL="0" indent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3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1250" dirty="0"/>
          </a:p>
          <a:p>
            <a:pPr marL="0" indent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3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2804099" y="4279392"/>
            <a:ext cx="2072579" cy="1691640"/>
          </a:xfrm>
          <a:prstGeom prst="roundRect">
            <a:avLst>
              <a:gd name="adj" fmla="val 4324"/>
            </a:avLst>
          </a:prstGeom>
          <a:solidFill>
            <a:srgbClr val="FDF0F6"/>
          </a:solidFill>
          <a:ln w="12700">
            <a:solidFill>
              <a:srgbClr val="F8DCEA"/>
            </a:solidFill>
            <a:prstDash val="solid"/>
          </a:ln>
          <a:effectLst>
            <a:outerShdw blurRad="76200" dist="25400" dir="5400000" algn="bl" rotWithShape="0">
              <a:srgbClr val="3B103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2986979" y="4462272"/>
            <a:ext cx="170681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2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2986979" y="4846320"/>
            <a:ext cx="1706819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3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250" dirty="0"/>
          </a:p>
          <a:p>
            <a:pPr marL="0" indent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3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</a:t>
            </a:r>
            <a:endParaRPr lang="en-US" sz="1250" dirty="0"/>
          </a:p>
          <a:p>
            <a:pPr marL="0" indent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3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5059558" y="4279392"/>
            <a:ext cx="2072579" cy="1691640"/>
          </a:xfrm>
          <a:prstGeom prst="roundRect">
            <a:avLst>
              <a:gd name="adj" fmla="val 4324"/>
            </a:avLst>
          </a:prstGeom>
          <a:solidFill>
            <a:srgbClr val="FDF0F6"/>
          </a:solidFill>
          <a:ln w="12700">
            <a:solidFill>
              <a:srgbClr val="F8DCEA"/>
            </a:solidFill>
            <a:prstDash val="solid"/>
          </a:ln>
          <a:effectLst>
            <a:outerShdw blurRad="76200" dist="25400" dir="5400000" algn="bl" rotWithShape="0">
              <a:srgbClr val="3B103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5242438" y="4462272"/>
            <a:ext cx="170681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2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5242438" y="4846320"/>
            <a:ext cx="1706819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3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1250" dirty="0"/>
          </a:p>
          <a:p>
            <a:pPr marL="0" indent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3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7315017" y="4279392"/>
            <a:ext cx="2072579" cy="1691640"/>
          </a:xfrm>
          <a:prstGeom prst="roundRect">
            <a:avLst>
              <a:gd name="adj" fmla="val 4324"/>
            </a:avLst>
          </a:prstGeom>
          <a:solidFill>
            <a:srgbClr val="FDF0F6"/>
          </a:solidFill>
          <a:ln w="12700">
            <a:solidFill>
              <a:srgbClr val="F8DCEA"/>
            </a:solidFill>
            <a:prstDash val="solid"/>
          </a:ln>
          <a:effectLst>
            <a:outerShdw blurRad="76200" dist="25400" dir="5400000" algn="bl" rotWithShape="0">
              <a:srgbClr val="3B103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/>
          <p:nvPr/>
        </p:nvSpPr>
        <p:spPr>
          <a:xfrm>
            <a:off x="7497897" y="4462272"/>
            <a:ext cx="170681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2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7497897" y="4846320"/>
            <a:ext cx="1706819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3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50" dirty="0"/>
          </a:p>
          <a:p>
            <a:pPr marL="0" indent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3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250" dirty="0"/>
          </a:p>
        </p:txBody>
      </p:sp>
      <p:sp>
        <p:nvSpPr>
          <p:cNvPr id="31" name="Shape 25"/>
          <p:cNvSpPr/>
          <p:nvPr/>
        </p:nvSpPr>
        <p:spPr>
          <a:xfrm>
            <a:off x="9570476" y="4279392"/>
            <a:ext cx="2072579" cy="1691640"/>
          </a:xfrm>
          <a:prstGeom prst="roundRect">
            <a:avLst>
              <a:gd name="adj" fmla="val 4324"/>
            </a:avLst>
          </a:prstGeom>
          <a:solidFill>
            <a:srgbClr val="FDF0F6"/>
          </a:solidFill>
          <a:ln w="12700">
            <a:solidFill>
              <a:srgbClr val="F8DCEA"/>
            </a:solidFill>
            <a:prstDash val="solid"/>
          </a:ln>
          <a:effectLst>
            <a:outerShdw blurRad="76200" dist="25400" dir="5400000" algn="bl" rotWithShape="0">
              <a:srgbClr val="3B103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9753356" y="4462272"/>
            <a:ext cx="170681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2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9753356" y="4846320"/>
            <a:ext cx="1706819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3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250" dirty="0"/>
          </a:p>
          <a:p>
            <a:pPr marL="0" indent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3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250" dirty="0"/>
          </a:p>
          <a:p>
            <a:pPr marL="0" indent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3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</a:t>
            </a:r>
            <a:endParaRPr lang="en-US" sz="1250" dirty="0"/>
          </a:p>
        </p:txBody>
      </p:sp>
      <p:sp>
        <p:nvSpPr>
          <p:cNvPr id="34" name="Text 28"/>
          <p:cNvSpPr/>
          <p:nvPr/>
        </p:nvSpPr>
        <p:spPr>
          <a:xfrm>
            <a:off x="548640" y="64739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E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README.md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10728655" y="64739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09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683769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F6C9E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project/icons/target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57790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3891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WORKFLOW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07008" y="676656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Data to Insight, in Four Stages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2395728" cy="3063240"/>
          </a:xfrm>
          <a:prstGeom prst="roundRect">
            <a:avLst>
              <a:gd name="adj" fmla="val 3053"/>
            </a:avLst>
          </a:prstGeom>
          <a:solidFill>
            <a:srgbClr val="FDF0F6"/>
          </a:solidFill>
          <a:ln w="12700">
            <a:solidFill>
              <a:srgbClr val="F8DCEA"/>
            </a:solidFill>
            <a:prstDash val="solid"/>
          </a:ln>
          <a:effectLst>
            <a:outerShdw blurRad="76200" dist="25400" dir="5400000" algn="bl" rotWithShape="0">
              <a:srgbClr val="3B103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49808" y="185623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C9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2167128" y="1874520"/>
            <a:ext cx="548640" cy="548640"/>
          </a:xfrm>
          <a:prstGeom prst="ellipse">
            <a:avLst/>
          </a:prstGeom>
          <a:solidFill>
            <a:srgbClr val="3B103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/home/claude/project/icons/search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8802" y="2006194"/>
            <a:ext cx="285293" cy="28529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9808" y="256032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Inspect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2971800"/>
            <a:ext cx="1993392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E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Audited all 300 raw records in Raw_Data for missing values, duplicates, and inconsistent entries.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2962656" y="3095244"/>
            <a:ext cx="219456" cy="256032"/>
          </a:xfrm>
          <a:prstGeom prst="chevron">
            <a:avLst/>
          </a:prstGeom>
          <a:solidFill>
            <a:srgbClr val="E021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3200400" y="1691640"/>
            <a:ext cx="2395728" cy="3063240"/>
          </a:xfrm>
          <a:prstGeom prst="roundRect">
            <a:avLst>
              <a:gd name="adj" fmla="val 3053"/>
            </a:avLst>
          </a:prstGeom>
          <a:solidFill>
            <a:srgbClr val="FDF0F6"/>
          </a:solidFill>
          <a:ln w="12700">
            <a:solidFill>
              <a:srgbClr val="F8DCEA"/>
            </a:solidFill>
            <a:prstDash val="solid"/>
          </a:ln>
          <a:effectLst>
            <a:outerShdw blurRad="76200" dist="25400" dir="5400000" algn="bl" rotWithShape="0">
              <a:srgbClr val="3B103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3401568" y="185623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C9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Shape 11"/>
          <p:cNvSpPr/>
          <p:nvPr/>
        </p:nvSpPr>
        <p:spPr>
          <a:xfrm>
            <a:off x="4818888" y="1874520"/>
            <a:ext cx="548640" cy="548640"/>
          </a:xfrm>
          <a:prstGeom prst="ellipse">
            <a:avLst/>
          </a:prstGeom>
          <a:solidFill>
            <a:srgbClr val="3B103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/home/claude/project/icons/filte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0562" y="200619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401568" y="256032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3401568" y="2971800"/>
            <a:ext cx="1993392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E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text, flagged missing IDs, and resolved invalid entries to build Cleaned_Data.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614416" y="3095244"/>
            <a:ext cx="219456" cy="256032"/>
          </a:xfrm>
          <a:prstGeom prst="chevron">
            <a:avLst/>
          </a:prstGeom>
          <a:solidFill>
            <a:srgbClr val="E021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5852160" y="1691640"/>
            <a:ext cx="2395728" cy="3063240"/>
          </a:xfrm>
          <a:prstGeom prst="roundRect">
            <a:avLst>
              <a:gd name="adj" fmla="val 3053"/>
            </a:avLst>
          </a:prstGeom>
          <a:solidFill>
            <a:srgbClr val="FDF0F6"/>
          </a:solidFill>
          <a:ln w="12700">
            <a:solidFill>
              <a:srgbClr val="F8DCEA"/>
            </a:solidFill>
            <a:prstDash val="solid"/>
          </a:ln>
          <a:effectLst>
            <a:outerShdw blurRad="76200" dist="25400" dir="5400000" algn="bl" rotWithShape="0">
              <a:srgbClr val="3B103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6053328" y="185623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C9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22" name="Shape 17"/>
          <p:cNvSpPr/>
          <p:nvPr/>
        </p:nvSpPr>
        <p:spPr>
          <a:xfrm>
            <a:off x="7470648" y="1874520"/>
            <a:ext cx="548640" cy="548640"/>
          </a:xfrm>
          <a:prstGeom prst="ellipse">
            <a:avLst/>
          </a:prstGeom>
          <a:solidFill>
            <a:srgbClr val="3B103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3" descr="/home/claude/project/icons/barchar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2322" y="2006194"/>
            <a:ext cx="285293" cy="28529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053328" y="256032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6053328" y="2971800"/>
            <a:ext cx="1993392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E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Summarized the clean data with PivotTables by category, city, customer type, year, and month.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8266176" y="3095244"/>
            <a:ext cx="219456" cy="256032"/>
          </a:xfrm>
          <a:prstGeom prst="chevron">
            <a:avLst/>
          </a:prstGeom>
          <a:solidFill>
            <a:srgbClr val="E021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8503920" y="1691640"/>
            <a:ext cx="2395728" cy="3063240"/>
          </a:xfrm>
          <a:prstGeom prst="roundRect">
            <a:avLst>
              <a:gd name="adj" fmla="val 3053"/>
            </a:avLst>
          </a:prstGeom>
          <a:solidFill>
            <a:srgbClr val="FDF0F6"/>
          </a:solidFill>
          <a:ln w="12700">
            <a:solidFill>
              <a:srgbClr val="F8DCEA"/>
            </a:solidFill>
            <a:prstDash val="solid"/>
          </a:ln>
          <a:effectLst>
            <a:outerShdw blurRad="76200" dist="25400" dir="5400000" algn="bl" rotWithShape="0">
              <a:srgbClr val="3B103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/>
          <p:nvPr/>
        </p:nvSpPr>
        <p:spPr>
          <a:xfrm>
            <a:off x="8705088" y="185623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C9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9" name="Shape 23"/>
          <p:cNvSpPr/>
          <p:nvPr/>
        </p:nvSpPr>
        <p:spPr>
          <a:xfrm>
            <a:off x="10122408" y="1874520"/>
            <a:ext cx="548640" cy="548640"/>
          </a:xfrm>
          <a:prstGeom prst="ellipse">
            <a:avLst/>
          </a:prstGeom>
          <a:solidFill>
            <a:srgbClr val="3B103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4" descr="/home/claude/project/icons/monitor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54082" y="2006194"/>
            <a:ext cx="285293" cy="285293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705088" y="256032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Visualize</a:t>
            </a:r>
            <a:endParaRPr lang="en-US" sz="1800" dirty="0"/>
          </a:p>
        </p:txBody>
      </p:sp>
      <p:sp>
        <p:nvSpPr>
          <p:cNvPr id="32" name="Text 25"/>
          <p:cNvSpPr/>
          <p:nvPr/>
        </p:nvSpPr>
        <p:spPr>
          <a:xfrm>
            <a:off x="8705088" y="2971800"/>
            <a:ext cx="1993392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E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KPIs and PivotTables into a one-page executive Dashboard.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10728655" y="64739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09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621725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E021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project/icons/al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57790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3891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2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AUDIT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07008" y="676656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Issues Found in Raw_Data (300 Records)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20700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audit of Raw_Data was carried out before any cleaning took place, uncovering the following: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2622728" cy="1481328"/>
          </a:xfrm>
          <a:prstGeom prst="roundRect">
            <a:avLst>
              <a:gd name="adj" fmla="val 4938"/>
            </a:avLst>
          </a:prstGeom>
          <a:solidFill>
            <a:srgbClr val="FDF0F6"/>
          </a:solidFill>
          <a:ln w="12700">
            <a:solidFill>
              <a:srgbClr val="F8DCEA"/>
            </a:solidFill>
            <a:prstDash val="solid"/>
          </a:ln>
          <a:effectLst>
            <a:outerShdw blurRad="76200" dist="25400" dir="5400000" algn="bl" rotWithShape="0">
              <a:srgbClr val="3B103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94944" y="1783080"/>
            <a:ext cx="2330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021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694944" y="2386584"/>
            <a:ext cx="233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IDs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94944" y="2715768"/>
            <a:ext cx="233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Transaction_ID blank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372536" y="1691640"/>
            <a:ext cx="2622728" cy="1481328"/>
          </a:xfrm>
          <a:prstGeom prst="roundRect">
            <a:avLst>
              <a:gd name="adj" fmla="val 4938"/>
            </a:avLst>
          </a:prstGeom>
          <a:solidFill>
            <a:srgbClr val="FDF0F6"/>
          </a:solidFill>
          <a:ln w="12700">
            <a:solidFill>
              <a:srgbClr val="F8DCEA"/>
            </a:solidFill>
            <a:prstDash val="solid"/>
          </a:ln>
          <a:effectLst>
            <a:outerShdw blurRad="76200" dist="25400" dir="5400000" algn="bl" rotWithShape="0">
              <a:srgbClr val="3B103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518840" y="1783080"/>
            <a:ext cx="2330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021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3518840" y="2386584"/>
            <a:ext cx="233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IDs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3518840" y="2715768"/>
            <a:ext cx="233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duplicate groups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196432" y="1691640"/>
            <a:ext cx="2622728" cy="1481328"/>
          </a:xfrm>
          <a:prstGeom prst="roundRect">
            <a:avLst>
              <a:gd name="adj" fmla="val 4938"/>
            </a:avLst>
          </a:prstGeom>
          <a:solidFill>
            <a:srgbClr val="FDF0F6"/>
          </a:solidFill>
          <a:ln w="12700">
            <a:solidFill>
              <a:srgbClr val="F8DCEA"/>
            </a:solidFill>
            <a:prstDash val="solid"/>
          </a:ln>
          <a:effectLst>
            <a:outerShdw blurRad="76200" dist="25400" dir="5400000" algn="bl" rotWithShape="0">
              <a:srgbClr val="3B103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342736" y="1783080"/>
            <a:ext cx="2330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021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6342736" y="2386584"/>
            <a:ext cx="233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Dates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342736" y="2715768"/>
            <a:ext cx="233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Purchase_Date blank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9020327" y="1691640"/>
            <a:ext cx="2622728" cy="1481328"/>
          </a:xfrm>
          <a:prstGeom prst="roundRect">
            <a:avLst>
              <a:gd name="adj" fmla="val 4938"/>
            </a:avLst>
          </a:prstGeom>
          <a:solidFill>
            <a:srgbClr val="FDF0F6"/>
          </a:solidFill>
          <a:ln w="12700">
            <a:solidFill>
              <a:srgbClr val="F8DCEA"/>
            </a:solidFill>
            <a:prstDash val="solid"/>
          </a:ln>
          <a:effectLst>
            <a:outerShdw blurRad="76200" dist="25400" dir="5400000" algn="bl" rotWithShape="0">
              <a:srgbClr val="3B103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9166631" y="1783080"/>
            <a:ext cx="2330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021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000" dirty="0"/>
          </a:p>
        </p:txBody>
      </p:sp>
      <p:sp>
        <p:nvSpPr>
          <p:cNvPr id="21" name="Text 18"/>
          <p:cNvSpPr/>
          <p:nvPr/>
        </p:nvSpPr>
        <p:spPr>
          <a:xfrm>
            <a:off x="9166631" y="2386584"/>
            <a:ext cx="233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Customer Type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9166631" y="2715768"/>
            <a:ext cx="233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or “NULL”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48640" y="3355848"/>
            <a:ext cx="2622728" cy="1481328"/>
          </a:xfrm>
          <a:prstGeom prst="roundRect">
            <a:avLst>
              <a:gd name="adj" fmla="val 4938"/>
            </a:avLst>
          </a:prstGeom>
          <a:solidFill>
            <a:srgbClr val="FDF0F6"/>
          </a:solidFill>
          <a:ln w="12700">
            <a:solidFill>
              <a:srgbClr val="F8DCEA"/>
            </a:solidFill>
            <a:prstDash val="solid"/>
          </a:ln>
          <a:effectLst>
            <a:outerShdw blurRad="76200" dist="25400" dir="5400000" algn="bl" rotWithShape="0">
              <a:srgbClr val="3B103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94944" y="3447288"/>
            <a:ext cx="2330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021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3000" dirty="0"/>
          </a:p>
        </p:txBody>
      </p:sp>
      <p:sp>
        <p:nvSpPr>
          <p:cNvPr id="25" name="Text 22"/>
          <p:cNvSpPr/>
          <p:nvPr/>
        </p:nvSpPr>
        <p:spPr>
          <a:xfrm>
            <a:off x="694944" y="4050792"/>
            <a:ext cx="233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Category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94944" y="4379976"/>
            <a:ext cx="233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or “-”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372536" y="3355848"/>
            <a:ext cx="2622728" cy="1481328"/>
          </a:xfrm>
          <a:prstGeom prst="roundRect">
            <a:avLst>
              <a:gd name="adj" fmla="val 4938"/>
            </a:avLst>
          </a:prstGeom>
          <a:solidFill>
            <a:srgbClr val="FDF0F6"/>
          </a:solidFill>
          <a:ln w="12700">
            <a:solidFill>
              <a:srgbClr val="F8DCEA"/>
            </a:solidFill>
            <a:prstDash val="solid"/>
          </a:ln>
          <a:effectLst>
            <a:outerShdw blurRad="76200" dist="25400" dir="5400000" algn="bl" rotWithShape="0">
              <a:srgbClr val="3B103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3518840" y="3447288"/>
            <a:ext cx="2330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021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3000" dirty="0"/>
          </a:p>
        </p:txBody>
      </p:sp>
      <p:sp>
        <p:nvSpPr>
          <p:cNvPr id="29" name="Text 26"/>
          <p:cNvSpPr/>
          <p:nvPr/>
        </p:nvSpPr>
        <p:spPr>
          <a:xfrm>
            <a:off x="3518840" y="4050792"/>
            <a:ext cx="233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Quantity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3518840" y="4379976"/>
            <a:ext cx="233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or “Unknown”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196432" y="3355848"/>
            <a:ext cx="2622728" cy="1481328"/>
          </a:xfrm>
          <a:prstGeom prst="roundRect">
            <a:avLst>
              <a:gd name="adj" fmla="val 4938"/>
            </a:avLst>
          </a:prstGeom>
          <a:solidFill>
            <a:srgbClr val="FDF0F6"/>
          </a:solidFill>
          <a:ln w="12700">
            <a:solidFill>
              <a:srgbClr val="F8DCEA"/>
            </a:solidFill>
            <a:prstDash val="solid"/>
          </a:ln>
          <a:effectLst>
            <a:outerShdw blurRad="76200" dist="25400" dir="5400000" algn="bl" rotWithShape="0">
              <a:srgbClr val="3B103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6342736" y="3447288"/>
            <a:ext cx="2330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021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3000" dirty="0"/>
          </a:p>
        </p:txBody>
      </p:sp>
      <p:sp>
        <p:nvSpPr>
          <p:cNvPr id="33" name="Text 30"/>
          <p:cNvSpPr/>
          <p:nvPr/>
        </p:nvSpPr>
        <p:spPr>
          <a:xfrm>
            <a:off x="6342736" y="4050792"/>
            <a:ext cx="233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Unit Price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6342736" y="4379976"/>
            <a:ext cx="233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blank, NULL, N/A, negative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9020327" y="3355848"/>
            <a:ext cx="2622728" cy="1481328"/>
          </a:xfrm>
          <a:prstGeom prst="roundRect">
            <a:avLst>
              <a:gd name="adj" fmla="val 4938"/>
            </a:avLst>
          </a:prstGeom>
          <a:solidFill>
            <a:srgbClr val="FDF0F6"/>
          </a:solidFill>
          <a:ln w="12700">
            <a:solidFill>
              <a:srgbClr val="F8DCEA"/>
            </a:solidFill>
            <a:prstDash val="solid"/>
          </a:ln>
          <a:effectLst>
            <a:outerShdw blurRad="76200" dist="25400" dir="5400000" algn="bl" rotWithShape="0">
              <a:srgbClr val="3B103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9166631" y="3447288"/>
            <a:ext cx="2330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021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000" dirty="0"/>
          </a:p>
        </p:txBody>
      </p:sp>
      <p:sp>
        <p:nvSpPr>
          <p:cNvPr id="37" name="Text 34"/>
          <p:cNvSpPr/>
          <p:nvPr/>
        </p:nvSpPr>
        <p:spPr>
          <a:xfrm>
            <a:off x="9166631" y="4050792"/>
            <a:ext cx="233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City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9166631" y="4379976"/>
            <a:ext cx="233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or “Unknown”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548640" y="5038344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found: </a:t>
            </a:r>
            <a:r>
              <a:rPr lang="en-US" sz="1150" dirty="0">
                <a:solidFill>
                  <a:srgbClr val="6E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capitalization across Customer_Type and City — e.g. New / new / NEW, Mogadishu / MOGADISHU / mogadishu.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548640" y="64739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E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Raw_Data, Data_Quality_Notes, Problems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0728655" y="64739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09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175716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3B103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project/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57790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3891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07008" y="676656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Data Was Fixed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53949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text casing for Customer_Type (New / Returning) and City names.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Reassigned blank Transaction_IDs as traceable placeholders (MISSING-1, MISSING-2, …).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invalid Quantity and Unit_Price entries — blank, NULL, N/A, Unknown, negative.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records with a missing Purchase_Date.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 calculated Revenue column (Quantity × Unit_Price).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448056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3B1030"/>
          </a:solidFill>
          <a:ln w="12700">
            <a:solidFill>
              <a:srgbClr val="F8DCEA"/>
            </a:solidFill>
            <a:prstDash val="solid"/>
          </a:ln>
          <a:effectLst>
            <a:outerShdw blurRad="76200" dist="25400" dir="5400000" algn="bl" rotWithShape="0">
              <a:srgbClr val="3B103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68680" y="4480560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021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292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2651760" y="4480560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analysis-ready records now in Cleaned_Data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248095" y="141732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BEAF1"/>
          </a:solidFill>
          <a:ln w="12700">
            <a:solidFill>
              <a:srgbClr val="F8DCEA"/>
            </a:solidFill>
            <a:prstDash val="solid"/>
          </a:ln>
          <a:effectLst>
            <a:outerShdw blurRad="76200" dist="25400" dir="5400000" algn="bl" rotWithShape="0">
              <a:srgbClr val="3B103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522415" y="1563624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E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RAW_DATA — EXAMPLE ROW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522415" y="187452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3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Transaction_ID:  </a:t>
            </a:r>
            <a:r>
              <a:rPr lang="en-US" sz="1250" dirty="0">
                <a:solidFill>
                  <a:srgbClr val="B0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(blank)
</a:t>
            </a:r>
            <a:r>
              <a:rPr lang="en-US" sz="1250" b="1" dirty="0">
                <a:solidFill>
                  <a:srgbClr val="3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Unit_Price:  </a:t>
            </a:r>
            <a:r>
              <a:rPr lang="en-US" sz="1250" dirty="0">
                <a:solidFill>
                  <a:srgbClr val="6E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$48.36
</a:t>
            </a:r>
            <a:r>
              <a:rPr lang="en-US" sz="1250" b="1" dirty="0">
                <a:solidFill>
                  <a:srgbClr val="3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City:  </a:t>
            </a:r>
            <a:r>
              <a:rPr lang="en-US" sz="1250" dirty="0">
                <a:solidFill>
                  <a:srgbClr val="6E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Mogadishu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 rot="5400000">
            <a:off x="8799271" y="2889504"/>
            <a:ext cx="292608" cy="201168"/>
          </a:xfrm>
          <a:prstGeom prst="chevron">
            <a:avLst/>
          </a:prstGeom>
          <a:solidFill>
            <a:srgbClr val="E021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248095" y="320040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FDF0F6"/>
          </a:solidFill>
          <a:ln w="12700">
            <a:solidFill>
              <a:srgbClr val="F8DCEA"/>
            </a:solidFill>
            <a:prstDash val="solid"/>
          </a:ln>
          <a:effectLst>
            <a:outerShdw blurRad="76200" dist="25400" dir="5400000" algn="bl" rotWithShape="0">
              <a:srgbClr val="3B103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522415" y="3346704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3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CLEANED_DATA — SAME ROW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522415" y="3657600"/>
            <a:ext cx="4846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3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Transaction_ID:  </a:t>
            </a:r>
            <a:r>
              <a:rPr lang="en-US" sz="1250" b="1" dirty="0">
                <a:solidFill>
                  <a:srgbClr val="1D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MISSING-5
</a:t>
            </a:r>
            <a:r>
              <a:rPr lang="en-US" sz="1250" b="1" dirty="0">
                <a:solidFill>
                  <a:srgbClr val="3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Unit_Price:  </a:t>
            </a:r>
            <a:r>
              <a:rPr lang="en-US" sz="1250" dirty="0">
                <a:solidFill>
                  <a:srgbClr val="6E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$48.36
</a:t>
            </a:r>
            <a:r>
              <a:rPr lang="en-US" sz="1250" b="1" dirty="0">
                <a:solidFill>
                  <a:srgbClr val="3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(new):  </a:t>
            </a:r>
            <a:r>
              <a:rPr lang="en-US" sz="1250" b="1" dirty="0">
                <a:solidFill>
                  <a:srgbClr val="1D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$193.44
</a:t>
            </a:r>
            <a:r>
              <a:rPr lang="en-US" sz="1250" b="1" dirty="0">
                <a:solidFill>
                  <a:srgbClr val="3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City:  </a:t>
            </a:r>
            <a:r>
              <a:rPr lang="en-US" sz="1250" dirty="0">
                <a:solidFill>
                  <a:srgbClr val="6E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Mogadishu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248095" y="5093208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Customer Type, Category, and Quantity — May 15, 2025 · Returning · Clothing · Qty 4 — carried over unchanged.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48640" y="64739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E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Raw_Data, Cleaned_Data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728655" y="64739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09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926002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F6C9E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project/icons/trending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57790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3891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07008" y="676656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KPIs at a Glance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4415" cy="1417320"/>
          </a:xfrm>
          <a:prstGeom prst="roundRect">
            <a:avLst>
              <a:gd name="adj" fmla="val 5161"/>
            </a:avLst>
          </a:prstGeom>
          <a:solidFill>
            <a:srgbClr val="3B1030"/>
          </a:solidFill>
          <a:ln w="12700">
            <a:solidFill>
              <a:srgbClr val="F8DCEA"/>
            </a:solidFill>
            <a:prstDash val="solid"/>
          </a:ln>
          <a:effectLst>
            <a:outerShdw blurRad="76200" dist="25400" dir="5400000" algn="bl" rotWithShape="0">
              <a:srgbClr val="3B103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005840" y="17556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02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REVENUE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1938528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$198,536.78</a:t>
            </a:r>
            <a:endParaRPr lang="en-US" sz="5400" dirty="0"/>
          </a:p>
        </p:txBody>
      </p:sp>
      <p:sp>
        <p:nvSpPr>
          <p:cNvPr id="9" name="Shape 6"/>
          <p:cNvSpPr/>
          <p:nvPr/>
        </p:nvSpPr>
        <p:spPr>
          <a:xfrm>
            <a:off x="548640" y="3246120"/>
            <a:ext cx="2043318" cy="1965960"/>
          </a:xfrm>
          <a:prstGeom prst="roundRect">
            <a:avLst>
              <a:gd name="adj" fmla="val 3721"/>
            </a:avLst>
          </a:prstGeom>
          <a:solidFill>
            <a:srgbClr val="FDF0F6"/>
          </a:solidFill>
          <a:ln w="12700">
            <a:solidFill>
              <a:srgbClr val="F8DCEA"/>
            </a:solidFill>
            <a:prstDash val="solid"/>
          </a:ln>
          <a:effectLst>
            <a:outerShdw blurRad="76200" dist="25400" dir="5400000" algn="bl" rotWithShape="0">
              <a:srgbClr val="3B103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0080" y="3474720"/>
            <a:ext cx="1860438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292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640080" y="4526280"/>
            <a:ext cx="186043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E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811414" y="3246120"/>
            <a:ext cx="2043318" cy="1965960"/>
          </a:xfrm>
          <a:prstGeom prst="roundRect">
            <a:avLst>
              <a:gd name="adj" fmla="val 3721"/>
            </a:avLst>
          </a:prstGeom>
          <a:solidFill>
            <a:srgbClr val="FDF0F6"/>
          </a:solidFill>
          <a:ln w="12700">
            <a:solidFill>
              <a:srgbClr val="F8DCEA"/>
            </a:solidFill>
            <a:prstDash val="solid"/>
          </a:ln>
          <a:effectLst>
            <a:outerShdw blurRad="76200" dist="25400" dir="5400000" algn="bl" rotWithShape="0">
              <a:srgbClr val="3B103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902854" y="3474720"/>
            <a:ext cx="1860438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1,293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2902854" y="4526280"/>
            <a:ext cx="186043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E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074188" y="3246120"/>
            <a:ext cx="2043318" cy="1965960"/>
          </a:xfrm>
          <a:prstGeom prst="roundRect">
            <a:avLst>
              <a:gd name="adj" fmla="val 3721"/>
            </a:avLst>
          </a:prstGeom>
          <a:solidFill>
            <a:srgbClr val="FDF0F6"/>
          </a:solidFill>
          <a:ln w="12700">
            <a:solidFill>
              <a:srgbClr val="F8DCEA"/>
            </a:solidFill>
            <a:prstDash val="solid"/>
          </a:ln>
          <a:effectLst>
            <a:outerShdw blurRad="76200" dist="25400" dir="5400000" algn="bl" rotWithShape="0">
              <a:srgbClr val="3B103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165628" y="3474720"/>
            <a:ext cx="1860438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$679.92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5165628" y="4526280"/>
            <a:ext cx="186043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E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Sale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336963" y="3246120"/>
            <a:ext cx="2043318" cy="1965960"/>
          </a:xfrm>
          <a:prstGeom prst="roundRect">
            <a:avLst>
              <a:gd name="adj" fmla="val 3721"/>
            </a:avLst>
          </a:prstGeom>
          <a:solidFill>
            <a:srgbClr val="FDF0F6"/>
          </a:solidFill>
          <a:ln w="12700">
            <a:solidFill>
              <a:srgbClr val="F8DCEA"/>
            </a:solidFill>
            <a:prstDash val="solid"/>
          </a:ln>
          <a:effectLst>
            <a:outerShdw blurRad="76200" dist="25400" dir="5400000" algn="bl" rotWithShape="0">
              <a:srgbClr val="3B103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428403" y="3474720"/>
            <a:ext cx="1860438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Electronics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7428403" y="4526280"/>
            <a:ext cx="186043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E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Category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9599737" y="3246120"/>
            <a:ext cx="2043318" cy="1965960"/>
          </a:xfrm>
          <a:prstGeom prst="roundRect">
            <a:avLst>
              <a:gd name="adj" fmla="val 3721"/>
            </a:avLst>
          </a:prstGeom>
          <a:solidFill>
            <a:srgbClr val="FDF0F6"/>
          </a:solidFill>
          <a:ln w="12700">
            <a:solidFill>
              <a:srgbClr val="F8DCEA"/>
            </a:solidFill>
            <a:prstDash val="solid"/>
          </a:ln>
          <a:effectLst>
            <a:outerShdw blurRad="76200" dist="25400" dir="5400000" algn="bl" rotWithShape="0">
              <a:srgbClr val="3B103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9691177" y="3474720"/>
            <a:ext cx="1860438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Mogadishu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9691177" y="4526280"/>
            <a:ext cx="186043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E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City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48640" y="64739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E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Dashboard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0728655" y="64739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09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666553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F6C9E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project/icons/piechart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57790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3891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VISUALS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07008" y="676656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by City, Category &amp; Customer Type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0362895" y="512064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E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2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1371600"/>
            <a:ext cx="34847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City</a:t>
            </a:r>
            <a:endParaRPr lang="en-US" sz="13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548640" y="1691640"/>
          <a:ext cx="3484778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5"/>
          <p:cNvSpPr/>
          <p:nvPr/>
        </p:nvSpPr>
        <p:spPr>
          <a:xfrm>
            <a:off x="4353458" y="1371600"/>
            <a:ext cx="34847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Category</a:t>
            </a:r>
            <a:endParaRPr lang="en-US" sz="1300" dirty="0"/>
          </a:p>
        </p:txBody>
      </p:sp>
      <p:graphicFrame>
        <p:nvGraphicFramePr>
          <p:cNvPr id="10" name="Chart 1"/>
          <p:cNvGraphicFramePr/>
          <p:nvPr/>
        </p:nvGraphicFramePr>
        <p:xfrm>
          <a:off x="4353458" y="1691640"/>
          <a:ext cx="3484778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Text 6"/>
          <p:cNvSpPr/>
          <p:nvPr/>
        </p:nvSpPr>
        <p:spPr>
          <a:xfrm>
            <a:off x="8158277" y="1371600"/>
            <a:ext cx="34847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vs. Returning Customers</a:t>
            </a:r>
            <a:endParaRPr lang="en-US" sz="1300" dirty="0"/>
          </a:p>
        </p:txBody>
      </p:sp>
      <p:graphicFrame>
        <p:nvGraphicFramePr>
          <p:cNvPr id="12" name="Chart 2"/>
          <p:cNvGraphicFramePr/>
          <p:nvPr/>
        </p:nvGraphicFramePr>
        <p:xfrm>
          <a:off x="8158277" y="1691640"/>
          <a:ext cx="3484778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3" name="Text 7"/>
          <p:cNvSpPr/>
          <p:nvPr/>
        </p:nvSpPr>
        <p:spPr>
          <a:xfrm>
            <a:off x="548640" y="64739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E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Dashboard (Pivot Tables)</a:t>
            </a:r>
            <a:endParaRPr lang="en-US" sz="900" dirty="0"/>
          </a:p>
        </p:txBody>
      </p:sp>
      <p:sp>
        <p:nvSpPr>
          <p:cNvPr id="14" name="Text 8"/>
          <p:cNvSpPr/>
          <p:nvPr/>
        </p:nvSpPr>
        <p:spPr>
          <a:xfrm>
            <a:off x="10728655" y="64739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09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0930476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F6C9E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project/icons/barchart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57790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3891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VISUALS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07008" y="676656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by Year and Monthly Trend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0362895" y="512064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E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2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1371600"/>
            <a:ext cx="5364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Year vs. Prior Year vs. No-Date</a:t>
            </a:r>
            <a:endParaRPr lang="en-US" sz="13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548640" y="1691640"/>
          <a:ext cx="5364328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5"/>
          <p:cNvSpPr/>
          <p:nvPr/>
        </p:nvSpPr>
        <p:spPr>
          <a:xfrm>
            <a:off x="6278728" y="1371600"/>
            <a:ext cx="5364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Month (2025–26)</a:t>
            </a:r>
            <a:endParaRPr lang="en-US" sz="1300" dirty="0"/>
          </a:p>
        </p:txBody>
      </p:sp>
      <p:graphicFrame>
        <p:nvGraphicFramePr>
          <p:cNvPr id="10" name="Chart 1"/>
          <p:cNvGraphicFramePr/>
          <p:nvPr/>
        </p:nvGraphicFramePr>
        <p:xfrm>
          <a:off x="6278728" y="1691640"/>
          <a:ext cx="5364328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Text 6"/>
          <p:cNvSpPr/>
          <p:nvPr/>
        </p:nvSpPr>
        <p:spPr>
          <a:xfrm>
            <a:off x="6278728" y="5239512"/>
            <a:ext cx="5364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E02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Peak: June ($4,601)   ·   Lowest: November ($804)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548640" y="64739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E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Dashboard (Pivot Tables)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10728655" y="64739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09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6004348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E021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project/icons/targ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57790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3891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2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07008" y="676656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Tells Us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5387188" cy="4709160"/>
          </a:xfrm>
          <a:prstGeom prst="roundRect">
            <a:avLst>
              <a:gd name="adj" fmla="val 1553"/>
            </a:avLst>
          </a:prstGeom>
          <a:solidFill>
            <a:srgbClr val="FDF0F6"/>
          </a:solidFill>
          <a:ln w="12700">
            <a:solidFill>
              <a:srgbClr val="F8DCEA"/>
            </a:solidFill>
            <a:prstDash val="solid"/>
          </a:ln>
          <a:effectLst>
            <a:outerShdw blurRad="76200" dist="25400" dir="5400000" algn="bl" rotWithShape="0">
              <a:srgbClr val="3B103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68680" y="1673352"/>
            <a:ext cx="47471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3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CONCLUSIONS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2075688"/>
            <a:ext cx="4747108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3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drives about 65% of category sales value — more than every other category combined.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3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Mogadishu leads all cities by a wide margin, consistent with it being the largest urban market.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3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customers contribute about 62% of sales value, ahead of new customers — a sign of strong retention.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3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was the strongest month ($4,601); November was the weakest ($804).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55868" y="1417320"/>
            <a:ext cx="5387188" cy="4709160"/>
          </a:xfrm>
          <a:prstGeom prst="roundRect">
            <a:avLst>
              <a:gd name="adj" fmla="val 1553"/>
            </a:avLst>
          </a:prstGeom>
          <a:solidFill>
            <a:srgbClr val="3B1030"/>
          </a:solidFill>
          <a:ln w="12700">
            <a:solidFill>
              <a:srgbClr val="F8DCEA"/>
            </a:solidFill>
            <a:prstDash val="solid"/>
          </a:ln>
          <a:effectLst>
            <a:outerShdw blurRad="76200" dist="25400" dir="5400000" algn="bl" rotWithShape="0">
              <a:srgbClr val="3B103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575908" y="1673352"/>
            <a:ext cx="47471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E02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575908" y="2075688"/>
            <a:ext cx="4747108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data-entry validation (dropdowns, required fields) at the point of capture to reduce missing or invalid entries.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Category and City fields going forward to avoid repeat cleanup work.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what drives the June peak and November dip for demand planning.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why Electronics and Mogadishu dominate to guide inventory and marketing focus.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728655" y="64739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09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514440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7576561760]">
  <a:themeElements>
    <a:clrScheme name="Office">
      <a:dk1>
        <a:srgbClr val="3B1030"/>
      </a:dk1>
      <a:lt1>
        <a:srgbClr val="FFFFFF"/>
      </a:lt1>
      <a:dk2>
        <a:srgbClr val="240A1D"/>
      </a:dk2>
      <a:lt2>
        <a:srgbClr val="FDF0F6"/>
      </a:lt2>
      <a:accent1>
        <a:srgbClr val="E0218A"/>
      </a:accent1>
      <a:accent2>
        <a:srgbClr val="3B1030"/>
      </a:accent2>
      <a:accent3>
        <a:srgbClr val="F6C9E0"/>
      </a:accent3>
      <a:accent4>
        <a:srgbClr val="6E4F5E"/>
      </a:accent4>
      <a:accent5>
        <a:srgbClr val="F8DCEA"/>
      </a:accent5>
      <a:accent6>
        <a:srgbClr val="240A1D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77F086E-50BB-47B2-9035-E813C37103CB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bfe12197-1465-4e58-aa69-10e614709cc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783</Words>
  <Application>Microsoft Office PowerPoint</Application>
  <PresentationFormat>Widescreen</PresentationFormat>
  <Paragraphs>158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 [1787576561760]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Sales Data Cleaning &amp; Executive Dashboard</dc:title>
  <dc:subject>PptxGenJS Presentation</dc:subject>
  <dc:creator>Abdikarim Ismail Ali</dc:creator>
  <cp:lastModifiedBy>Mr.. Leave</cp:lastModifiedBy>
  <cp:revision>4</cp:revision>
  <dcterms:created xsi:type="dcterms:W3CDTF">2026-08-24T12:34:44Z</dcterms:created>
  <dcterms:modified xsi:type="dcterms:W3CDTF">2026-08-24T14:39:03Z</dcterms:modified>
</cp:coreProperties>
</file>